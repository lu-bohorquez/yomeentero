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2" r:id="rId4"/>
    <p:sldMasterId id="214748367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Work Sans Medium"/>
      <p:regular r:id="rId31"/>
      <p:bold r:id="rId32"/>
      <p:italic r:id="rId33"/>
      <p:boldItalic r:id="rId34"/>
    </p:embeddedFont>
    <p:embeddedFont>
      <p:font typeface="Work Sans"/>
      <p:regular r:id="rId35"/>
      <p:bold r:id="rId36"/>
      <p:italic r:id="rId37"/>
      <p:boldItalic r:id="rId38"/>
    </p:embeddedFont>
    <p:embeddedFont>
      <p:font typeface="Work Sans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iVqu1fi6CUxyR1qh2gGT7v1DF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bold.fntdata"/><Relationship Id="rId20" Type="http://schemas.openxmlformats.org/officeDocument/2006/relationships/slide" Target="slides/slide14.xml"/><Relationship Id="rId42" Type="http://schemas.openxmlformats.org/officeDocument/2006/relationships/font" Target="fonts/WorkSansLight-boldItalic.fntdata"/><Relationship Id="rId41" Type="http://schemas.openxmlformats.org/officeDocument/2006/relationships/font" Target="fonts/WorkSansLight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WorkSansMedium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WorkSansMedium-italic.fntdata"/><Relationship Id="rId10" Type="http://schemas.openxmlformats.org/officeDocument/2006/relationships/slide" Target="slides/slide4.xml"/><Relationship Id="rId32" Type="http://schemas.openxmlformats.org/officeDocument/2006/relationships/font" Target="fonts/WorkSansMedium-bold.fntdata"/><Relationship Id="rId13" Type="http://schemas.openxmlformats.org/officeDocument/2006/relationships/slide" Target="slides/slide7.xml"/><Relationship Id="rId35" Type="http://schemas.openxmlformats.org/officeDocument/2006/relationships/font" Target="fonts/WorkSans-regular.fntdata"/><Relationship Id="rId12" Type="http://schemas.openxmlformats.org/officeDocument/2006/relationships/slide" Target="slides/slide6.xml"/><Relationship Id="rId34" Type="http://schemas.openxmlformats.org/officeDocument/2006/relationships/font" Target="fonts/WorkSansMedium-boldItalic.fntdata"/><Relationship Id="rId15" Type="http://schemas.openxmlformats.org/officeDocument/2006/relationships/slide" Target="slides/slide9.xml"/><Relationship Id="rId37" Type="http://schemas.openxmlformats.org/officeDocument/2006/relationships/font" Target="fonts/WorkSans-italic.fntdata"/><Relationship Id="rId14" Type="http://schemas.openxmlformats.org/officeDocument/2006/relationships/slide" Target="slides/slide8.xml"/><Relationship Id="rId36" Type="http://schemas.openxmlformats.org/officeDocument/2006/relationships/font" Target="fonts/WorkSans-bold.fntdata"/><Relationship Id="rId17" Type="http://schemas.openxmlformats.org/officeDocument/2006/relationships/slide" Target="slides/slide11.xml"/><Relationship Id="rId39" Type="http://schemas.openxmlformats.org/officeDocument/2006/relationships/font" Target="fonts/WorkSansLight-regular.fntdata"/><Relationship Id="rId16" Type="http://schemas.openxmlformats.org/officeDocument/2006/relationships/slide" Target="slides/slide10.xml"/><Relationship Id="rId38" Type="http://schemas.openxmlformats.org/officeDocument/2006/relationships/font" Target="fonts/WorkSans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8" name="Google Shape;368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155d56c852_0_4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4" name="Google Shape;394;g2155d56c852_0_4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18" name="Google Shape;1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7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7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99" name="Google Shape;99;p1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1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6" name="Google Shape;116;p1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1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1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1" name="Google Shape;131;p1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1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7" name="Google Shape;147;p1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1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p1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1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1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1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1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76" name="Google Shape;176;p1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1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88" name="Google Shape;188;p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1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3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8" name="Google Shape;198;p1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1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1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3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13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1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1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1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1" name="Google Shape;211;p1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2" name="Google Shape;212;p1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1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1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1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5" name="Google Shape;225;p13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6" name="Google Shape;226;p1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1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13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13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33" name="Google Shape;233;p1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1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13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9" name="Google Shape;239;p1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1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5" name="Google Shape;245;p1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1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1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1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2" name="Google Shape;182;p1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995422" y="2551837"/>
            <a:ext cx="9477046" cy="218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ES" sz="36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Nombre del Grupo: YoMeEntero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Autores: LAURA VALENTINA BOHORQUEZ CAMACHO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FELIPE GOMEZ LESMES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000" u="none" cap="none" strike="noStrike">
                <a:solidFill>
                  <a:srgbClr val="3F3F3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3F3F3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"/>
          <p:cNvSpPr txBox="1"/>
          <p:nvPr/>
        </p:nvSpPr>
        <p:spPr>
          <a:xfrm>
            <a:off x="3502135" y="1314271"/>
            <a:ext cx="46201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2"/>
          <p:cNvCxnSpPr/>
          <p:nvPr/>
        </p:nvCxnSpPr>
        <p:spPr>
          <a:xfrm>
            <a:off x="4754934" y="2515265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2"/>
          <p:cNvSpPr txBox="1"/>
          <p:nvPr/>
        </p:nvSpPr>
        <p:spPr>
          <a:xfrm>
            <a:off x="4011161" y="2738510"/>
            <a:ext cx="3854368" cy="26468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 del proyecto.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Objetivos específicos.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Pregunta Problema</a:t>
            </a:r>
            <a:endParaRPr/>
          </a:p>
          <a:p>
            <a:pPr indent="-285750" lvl="1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Modelo Canvas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Diseño de la base de datos.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Requerimientos Funcionales.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Software utilizado.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Funcionalidades.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Reglas del negocio.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Inicio Demo.</a:t>
            </a:r>
            <a:endParaRPr b="0" i="0" sz="16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"/>
          <p:cNvSpPr txBox="1"/>
          <p:nvPr/>
        </p:nvSpPr>
        <p:spPr>
          <a:xfrm>
            <a:off x="2551002" y="296176"/>
            <a:ext cx="7441409" cy="23082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-ES" sz="72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TIEMPOS SUGERIDOS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3"/>
          <p:cNvCxnSpPr/>
          <p:nvPr/>
        </p:nvCxnSpPr>
        <p:spPr>
          <a:xfrm>
            <a:off x="5227899" y="2649273"/>
            <a:ext cx="1736203" cy="0"/>
          </a:xfrm>
          <a:prstGeom prst="straightConnector1">
            <a:avLst/>
          </a:prstGeom>
          <a:noFill/>
          <a:ln cap="flat" cmpd="sng" w="9525">
            <a:solidFill>
              <a:srgbClr val="38AA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4" name="Google Shape;274;p3"/>
          <p:cNvSpPr txBox="1"/>
          <p:nvPr/>
        </p:nvSpPr>
        <p:spPr>
          <a:xfrm>
            <a:off x="4168816" y="2906677"/>
            <a:ext cx="3854368" cy="3293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Objetivo del proyecto: 1 minuto.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específicos: 1 minuto.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Software utilizado: 1 minuto.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Modelo Canvas: 2 minutos.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Requerimientos Funcionales: 2 minutos.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Reglas del negocio: 2 minutos.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Diseño de la base de datos: 2 minutos.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Funcionalidades: 3 minutos.</a:t>
            </a:r>
            <a:endParaRPr/>
          </a:p>
          <a:p>
            <a:pPr indent="-101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Inicio Demo: 6 minutos.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Total: 20 minutos.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280" name="Google Shape;280;p97"/>
          <p:cNvSpPr txBox="1"/>
          <p:nvPr/>
        </p:nvSpPr>
        <p:spPr>
          <a:xfrm>
            <a:off x="456236" y="1511559"/>
            <a:ext cx="11449625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de aplicación web y app para publicar anuncios de actividades extracurriculares en la comunidad educativa del Colegio Técnico Palermo IED</a:t>
            </a:r>
            <a:endParaRPr b="0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8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8"/>
          <p:cNvSpPr txBox="1"/>
          <p:nvPr/>
        </p:nvSpPr>
        <p:spPr>
          <a:xfrm>
            <a:off x="456236" y="1604865"/>
            <a:ext cx="10470891" cy="40318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aplicación web y móvil que centralice la publicación, organización y difusión de actividades extracurriculares del Colegio Técnico Palermo IED. Esta herramienta permitirá a los docentes registrar eventos con fecha, hora y lugar, y facilitará a estudiantes y acudientes el acceso oportuno a la información a través de notificaciones, un calendario compartido y el registro de asistencia.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Objetivos específicos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 txBox="1"/>
          <p:nvPr/>
        </p:nvSpPr>
        <p:spPr>
          <a:xfrm>
            <a:off x="456236" y="1158252"/>
            <a:ext cx="11735764" cy="494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Fase de Análisis: Examinar cómo se comunican y organizan actualmente las actividades extracurriculares en el colegio, con el objetivo de detectar problemas como la falta de difusión o la desorganización de la información.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Fase de Diseño: Crear una interfaz amigable y una base de datos que facilite el registro de actividades, usuarios e inscripciones de manera clara y ordenada.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Fase de Desarrollo: Desarrollar una aplicación web que permita publicar, consultar e inscribirse en actividades académicas, utilizando herramientas de programación adecuadas.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Fase de Pruebas: Realizar pruebas al sistema para asegurarse de que funcione correctamente, que la información se registre de manera adecuada y que los usuarios puedan utilizarlo sin inconvenientes.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6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Fase de Implementación: Implementar la aplicación en la comunidad educativa, permitiendo que docentes, estudiantes y acudientes la utilicen para mejorar la comunicación y la participación en las actividades.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 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"/>
          <p:cNvSpPr txBox="1"/>
          <p:nvPr/>
        </p:nvSpPr>
        <p:spPr>
          <a:xfrm>
            <a:off x="456236" y="1158252"/>
            <a:ext cx="117357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¿De qué manera se puede mejorar el acceso oportuno a la información de actividades y el control de asistencia de </a:t>
            </a:r>
            <a:r>
              <a:rPr lang="es-ES" sz="2400">
                <a:latin typeface="Work Sans"/>
                <a:ea typeface="Work Sans"/>
                <a:cs typeface="Work Sans"/>
                <a:sym typeface="Work Sans"/>
              </a:rPr>
              <a:t>estudiantes</a:t>
            </a:r>
            <a:r>
              <a:rPr b="0" i="0" lang="es-ES" sz="2400" u="none" cap="none" strike="noStrike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, a través de la implementación de un sistema web centralizado con autenticación y gestión de bases de datos relacionales?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Modelo Canvas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9241" y="1134321"/>
            <a:ext cx="8545804" cy="558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Diseño de la base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pic>
        <p:nvPicPr>
          <p:cNvPr descr="C:\Users\ESTUDIANTE\Downloads\WhatsApp Image 2026-06-12 at 12.44.34 PM.jpeg" id="310" name="Google Shape;310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9572" y="1158252"/>
            <a:ext cx="9568927" cy="51685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0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0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Base de datos – Modelo Entidad Relación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\Users\ESTUDIANTE\Downloads\WhatsApp Image 2026-06-12 at 12.43.15 PM.jpeg" id="316" name="Google Shape;316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0480" y="1134321"/>
            <a:ext cx="9103326" cy="5453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1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Requerimientos Funcionales</a:t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22" name="Google Shape;322;p101"/>
          <p:cNvSpPr txBox="1"/>
          <p:nvPr/>
        </p:nvSpPr>
        <p:spPr>
          <a:xfrm>
            <a:off x="456236" y="1159508"/>
            <a:ext cx="1051560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Validar Usuario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Generación de respuestas con IA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Operarios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Publicación de Eventos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Notificaciones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Reporte de Fechas y Estado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Reporte de Cronograma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Planilla de Actividades por Fecha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Reporte del Estado de Actividades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02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Herramientas y/o software utilizado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2"/>
          <p:cNvSpPr/>
          <p:nvPr/>
        </p:nvSpPr>
        <p:spPr>
          <a:xfrm>
            <a:off x="744675" y="1536174"/>
            <a:ext cx="9762299" cy="51090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 Operativo: Windows / Entorno local de desarrollo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Servidor Web: Xampp (Apache) / Entorno local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Gestor de Base de Datos: SQLite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Entorno de Desarrollo: (Visual – Xampp y/o Python)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Lenguajes de Programación – Back End y Front End: Python (Django), HTML5 y CSS3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Otros: 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Word y Excel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Google Forms (para recolección de datos y encuestas de la fase de análisis)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Microsoft PowerPoint (para el diseño de presentaciones)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5"/>
          <p:cNvSpPr txBox="1"/>
          <p:nvPr/>
        </p:nvSpPr>
        <p:spPr>
          <a:xfrm>
            <a:off x="522032" y="247482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34" name="Google Shape;334;p105"/>
          <p:cNvSpPr txBox="1"/>
          <p:nvPr/>
        </p:nvSpPr>
        <p:spPr>
          <a:xfrm>
            <a:off x="522032" y="989045"/>
            <a:ext cx="11095062" cy="6432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1. Index.php – Página de Bienvenida y Presentación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Esta es la página de inicio (landing page) que da la bienvenida a toda la comunidad educativa del Colegio Técnico Palermo IED.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Un diseño visual institucional que se adapta y cuenta con efectos modernos como el glassmorphism.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Control de sesión que redirige automáticamente a los usuarios autenticados a las actividades si ya han iniciado sesión.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Accesos directos y claros hacia los módulos de Iniciar Sesión y Registro.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2. Login.php – Autenticación de Usuarios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Facilita el acceso seguro de los usuarios registrados al sistema institucional mediante sus credenciales.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Validaciones para campos vacíos y manejo de errores que se muestran claramente en pantalla.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Compatibilidad con contraseñas cifradas usando password_hash / password_verify, además de soporte opcional para migraciones.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Configuración de seguridad avanzada en las cookies de sesión (httponly, samesite).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/>
          <p:nvPr/>
        </p:nvSpPr>
        <p:spPr>
          <a:xfrm>
            <a:off x="619278" y="233788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7"/>
          <p:cNvSpPr/>
          <p:nvPr/>
        </p:nvSpPr>
        <p:spPr>
          <a:xfrm>
            <a:off x="619278" y="1078337"/>
            <a:ext cx="10862607" cy="53244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Registro.php – Creación de Cuentas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Función Principal: Este módulo permite que nuevos usuarios se registren en la plataforma del colegio.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Verificación previa en la base de datos para evitar que se repitan nombres de usuario.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Almacenamiento seguro de credenciales aplicando cifrado de contraseñas (PASSWORD_DEFAULT).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Redirección exitosa al panel de inicio de sesión con mensajes de confirmación.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Actividades.php – Catálogo Extracurricular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Función Principal: Presenta la oferta institucional de actividades extracurriculares, que incluyen opciones deportivas, culturales, académicas, entre otras.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Un sistema de filtrado dinámico mediante JavaScript que permite clasificar las actividades de manera instantánea.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Enlace directo con el formulario de inscripción, pasando el nombre de la actividad seleccionada a través de sessionStorage.</a:t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"/>
          <p:cNvSpPr txBox="1"/>
          <p:nvPr/>
        </p:nvSpPr>
        <p:spPr>
          <a:xfrm>
            <a:off x="456236" y="286060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46" name="Google Shape;346;p8"/>
          <p:cNvSpPr txBox="1"/>
          <p:nvPr/>
        </p:nvSpPr>
        <p:spPr>
          <a:xfrm>
            <a:off x="456236" y="1027623"/>
            <a:ext cx="11580254" cy="5940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5. Inscripcion.php – Registro a Actividades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Este formulario permite a los estudiantes inscribirse de manera formal en actividades extracurriculares.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Gestión inteligente de estudiantes: el sistema detecta automáticamente si el documento ya está registrado o si necesita crear uno nuevo en la base de datos.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Uso de transacciones SQL (begin_transaction, commit, rollback) para asegurar que los datos se mantengan íntegros, incluso si ocurre algún fallo.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6. Consultas.php – Panel de Control y CRUD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Este panel administrativo permite consultar, filtrar, actualizar estados y eliminar inscripciones ya registradas.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Barra de búsqueda avanzada que facilita el filtrado de registros por estudiante, número de documento o actividad.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Modificación interactiva de estados (Pendiente, Confirmado, Cancelado) a través de formularios desplegables.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Acciones de eliminación que requieren una confirmación de seguridad para proteger los datos.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"/>
          <p:cNvSpPr txBox="1"/>
          <p:nvPr/>
        </p:nvSpPr>
        <p:spPr>
          <a:xfrm>
            <a:off x="744674" y="233788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00000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619278" y="1078337"/>
            <a:ext cx="10862607" cy="50167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Avisos.php – Comunicados Institucionales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Función Principal: Módulo administrable (CRUD completo) para publicar, editar y eliminar avisos o noticias de la Rectoría.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Formulario dual que permite tanto la creación de nuevos comunicados como la actualización de los existentes.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Listado ordenado cronológicamente en orden descendente, con una visualización clara de los emisores y las fechas.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Calendario.php – Agenda de Eventos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Función Principal: Módulo de gestión que permite programar, visualizar, modificar y eliminar eventos institucionales.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Inserción y edición de fechas, horas, lugares y descripciones de eventos.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Diseño visual en tarjetas que incluyen insignias de fechas (badges) organizadas cronológicamente.</a:t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0"/>
          <p:cNvSpPr txBox="1"/>
          <p:nvPr/>
        </p:nvSpPr>
        <p:spPr>
          <a:xfrm>
            <a:off x="456236" y="286060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456236" y="1027623"/>
            <a:ext cx="11383347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9. Nosotros.php – Información del Proyecto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Esta sección ofrece detalles sobre los objetivos de la plataforma y los créditos institucionales.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 Presenta al equipo de desarrollo estudiantil del Colegio Técnico Palermo IED, que incluye a Felipe Gómez, Laura Bohórquez y Sebastián Rojas.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10. Logout.php y Usuario.php – Control de Sesiones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Función Principal: Se encarga de gestionar el ciclo de vida de la sesión del usuario.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Características clave: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Logout.php: Se asegura de limpiar de manera segura todas las variables de sesión, destruye la cookie de sesión y redirige al usuario a la página de inicio de sesión.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0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- Usuario.php: Realiza una validación centralizada de la autenticación necesaria para proteger el acceso a las páginas internas.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"/>
          <p:cNvSpPr txBox="1"/>
          <p:nvPr/>
        </p:nvSpPr>
        <p:spPr>
          <a:xfrm>
            <a:off x="456236" y="457723"/>
            <a:ext cx="1061181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Funcionalidades por módulo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921902" y="1134321"/>
            <a:ext cx="10323375" cy="1477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proyecto "Yo Me Entero" tiene como objetivo centralizar y digitalizar la comunicación sobre actividades institucionales, extracurriculares y eventos en el Colegio Técnico Palermo IED. Esto facilitará la interacción entre los estudiantes y la administración. Un ejemplo del flujo sería: un estudiante ingresa, consulta las actividades, selecciona una, completa su inscripción y, finalmente, el administrador valida y gestiona el estado en el sistema.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5" name="Google Shape;36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4675" y="3057994"/>
            <a:ext cx="10677830" cy="3117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07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Reglas del negocio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744675" y="1536174"/>
            <a:ext cx="9762299" cy="36317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usuario debe registrarse para poder realizar compras.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usuario registrado tiene un rol (cliente y administrador).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clientes solo pueden gestionar sus propios pedidos y perfil.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administradores pueden gestionar productos, inventario, usuarios y pedidos.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productos e inventario: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Ningún producto puede venderse si su stock es cero.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administradores deben actualizar el inventario cada vez que se realice una venta o una reposición.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precio de un producto no puede ser menor o igual a cero.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producto debe tener un identificador único (Id_producto) que lo diferencie.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3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744675" y="1536174"/>
            <a:ext cx="9762299" cy="341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Carrito de compras y pedidos: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cliente puede agregar múltiples productos al carrito, pero la cantidad no debe superar el stock disponible.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recalcular automáticamente el total de la compra al modificar cantidades o eliminar productos.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 confirmar un pedido el cliente debe seleccionar un método de pago válido (ejemplo: Nequi o Contra entrega).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vez confirmado, el pedido se guarda en la base de datos con estado inicial “Pendiente”.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pagos: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se aceptan métodos de pago previamente autorizados por el sistema.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pagos deben registrarse con su respectivo comprobante (en caso de medios digitales).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el caso de pagos contra entrega, el pedido queda como “En proceso” hasta que el administrador lo confirme.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"/>
          <p:cNvSpPr txBox="1"/>
          <p:nvPr/>
        </p:nvSpPr>
        <p:spPr>
          <a:xfrm>
            <a:off x="456236" y="457723"/>
            <a:ext cx="105156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0C0C0C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Demostración de las reglas del negocio</a:t>
            </a:r>
            <a:endParaRPr b="0" i="0" sz="4400" u="none" cap="none" strike="noStrike">
              <a:solidFill>
                <a:srgbClr val="0C0C0C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744675" y="1536174"/>
            <a:ext cx="9762299" cy="3847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Seguridad y accesos: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acceso de usuario debe realizarse mediante autenticación con usuario y contraseña cifrada.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datos sensibles (usuarios, pedidos y proveedores) deben almacenarse con restricciones según roles.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Ningún usuario sin permisos podrá acceder a áreas de administración.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Reportes y trazabilidad: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mantener un historial de compras por usuario.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administrador puede generar reportes de ventas, inventario y usuarios.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 cambio en productos o inventario debe quedar registrado con fecha y responsable.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y usabilidad: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sistema debe permitir redirección segura hacia redes sociales y pasarelas de pago.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menú de navegación debe estar disponible en todas las páginas principales.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información de contacto debe estar siempre visible para los clientes.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396" name="Google Shape;396;g2155d56c852_0_4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09"/>
          <p:cNvSpPr txBox="1"/>
          <p:nvPr/>
        </p:nvSpPr>
        <p:spPr>
          <a:xfrm>
            <a:off x="456236" y="416689"/>
            <a:ext cx="10515600" cy="741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0" i="0" lang="es-ES" sz="44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s-ES" sz="2000" u="none" cap="none" strike="noStrike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Tiempo: Máximo 5 min.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